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イベント件数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4308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B6CB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B82C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38BDF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60A5FA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93C5FD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BFDBFE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見積書_受領</c:v>
                  </c:pt>
                  <c:pt idx="1">
                    <c:v>請求書_照合</c:v>
                  </c:pt>
                  <c:pt idx="2">
                    <c:v>請求書_受領</c:v>
                  </c:pt>
                  <c:pt idx="3">
                    <c:v>検収_実施</c:v>
                  </c:pt>
                  <c:pt idx="4">
                    <c:v>納品_受領</c:v>
                  </c:pt>
                  <c:pt idx="5">
                    <c:v>サプライヤー_選定</c:v>
                  </c:pt>
                  <c:pt idx="6">
                    <c:v>見積依頼_送付</c:v>
                  </c:pt>
                  <c:pt idx="7">
                    <c:v>購買依頼_作成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747</c:v>
                </c:pt>
                <c:pt idx="1">
                  <c:v>665</c:v>
                </c:pt>
                <c:pt idx="2">
                  <c:v>665</c:v>
                </c:pt>
                <c:pt idx="3">
                  <c:v>648</c:v>
                </c:pt>
                <c:pt idx="4">
                  <c:v>630</c:v>
                </c:pt>
                <c:pt idx="5">
                  <c:v>606</c:v>
                </c:pt>
                <c:pt idx="6">
                  <c:v>606</c:v>
                </c:pt>
                <c:pt idx="7">
                  <c:v>606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ケース数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bubble3D val="0"/>
            <c:spPr>
              <a:solidFill>
                <a:srgbClr val="38BDF8"/>
              </a:solidFill>
              <a:effectLst/>
            </c:spPr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bubble3D val="0"/>
            <c:spPr>
              <a:solidFill>
                <a:srgbClr val="EF4444"/>
              </a:solidFill>
              <a:effectLst/>
            </c:spPr>
          </c:dPt>
          <c:dPt>
            <c:idx val="4"/>
            <c:bubble3D val="0"/>
            <c:spPr>
              <a:solidFill>
                <a:srgbClr val="CBD5E1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標準フロー
(32.3%)</c:v>
                </c:pt>
                <c:pt idx="1">
                  <c:v>エスカレーション
(7.8%)</c:v>
                </c:pt>
                <c:pt idx="2">
                  <c:v>督促あり
(6.8%)</c:v>
                </c:pt>
                <c:pt idx="3">
                  <c:v>交渉あり
(4.0%)</c:v>
                </c:pt>
                <c:pt idx="4">
                  <c:v>その他
(49.1%)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196</c:v>
                </c:pt>
                <c:pt idx="1">
                  <c:v>47</c:v>
                </c:pt>
                <c:pt idx="2">
                  <c:v>41</c:v>
                </c:pt>
                <c:pt idx="3">
                  <c:v>24</c:v>
                </c:pt>
                <c:pt idx="4">
                  <c:v>298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9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243080"/>
          </a:solidFill>
          <a:ln w="12700">
            <a:solidFill>
              <a:srgbClr val="2430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-457200"/>
            <a:ext cx="2286000" cy="2286000"/>
          </a:xfrm>
          <a:prstGeom prst="ellipse">
            <a:avLst/>
          </a:prstGeom>
          <a:solidFill>
            <a:srgbClr val="38BDF8">
              <a:alpha val="20000"/>
            </a:srgbClr>
          </a:solidFill>
          <a:ln w="12700">
            <a:solidFill>
              <a:srgbClr val="38BDF8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0" y="3200400"/>
            <a:ext cx="1645920" cy="1645920"/>
          </a:xfrm>
          <a:prstGeom prst="ellipse">
            <a:avLst/>
          </a:prstGeom>
          <a:solidFill>
            <a:srgbClr val="3B82C4">
              <a:alpha val="25000"/>
            </a:srgbClr>
          </a:solidFill>
          <a:ln w="12700">
            <a:solidFill>
              <a:srgbClr val="3B82C4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05840"/>
            <a:ext cx="2926080" cy="2926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058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94A"/>
                </a:solidFill>
              </a:rPr>
              <a:t>業務プロセス可視化・分析ツール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417320"/>
            <a:ext cx="5943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プロセス</a:t>
            </a:r>
            <a:endParaRPr lang="en-US" sz="46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マイニングツール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365760" y="333756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イベントログから業務の実態を解明し</a:t>
            </a:r>
            <a:endParaRPr lang="en-US" sz="16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ボトルネック・手戻りを即座に特定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74320" y="4389120"/>
            <a:ext cx="1463040" cy="640080"/>
          </a:xfrm>
          <a:prstGeom prst="rect">
            <a:avLst/>
          </a:prstGeom>
          <a:solidFill>
            <a:srgbClr val="1E2761">
              <a:alpha val="70000"/>
            </a:srgbClr>
          </a:solidFill>
          <a:ln w="12700">
            <a:solidFill>
              <a:srgbClr val="38BDF8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440740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10,016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74320" y="47091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イベント件数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901952" y="4389120"/>
            <a:ext cx="1463040" cy="640080"/>
          </a:xfrm>
          <a:prstGeom prst="rect">
            <a:avLst/>
          </a:prstGeom>
          <a:solidFill>
            <a:srgbClr val="1E2761">
              <a:alpha val="70000"/>
            </a:srgbClr>
          </a:solidFill>
          <a:ln w="12700">
            <a:solidFill>
              <a:srgbClr val="38BDF8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01952" y="440740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606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901952" y="47091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購買案件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529584" y="4389120"/>
            <a:ext cx="1463040" cy="640080"/>
          </a:xfrm>
          <a:prstGeom prst="rect">
            <a:avLst/>
          </a:prstGeom>
          <a:solidFill>
            <a:srgbClr val="1E2761">
              <a:alpha val="70000"/>
            </a:srgbClr>
          </a:solidFill>
          <a:ln w="12700">
            <a:solidFill>
              <a:srgbClr val="38BDF8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29584" y="440740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529584" y="47091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アクティビティ数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157216" y="4389120"/>
            <a:ext cx="1463040" cy="640080"/>
          </a:xfrm>
          <a:prstGeom prst="rect">
            <a:avLst/>
          </a:prstGeom>
          <a:solidFill>
            <a:srgbClr val="1E2761">
              <a:alpha val="70000"/>
            </a:srgbClr>
          </a:solidFill>
          <a:ln w="12700">
            <a:solidFill>
              <a:srgbClr val="38BDF8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57216" y="440740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157216" y="47091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分析モード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よくある業務の悩み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1051560"/>
            <a:ext cx="2743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51560"/>
            <a:ext cx="2743200" cy="1645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0160" y="1005840"/>
            <a:ext cx="640080" cy="6400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280160" y="1005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65760" y="17373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業務の実態が</a:t>
            </a:r>
            <a:endParaRPr lang="en-US" sz="15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把握できていない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5760" y="260604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システム上に記録はあるが、</a:t>
            </a:r>
            <a:endParaRPr lang="en-US" sz="12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実際にどの順番で処理されているか</a:t>
            </a:r>
            <a:endParaRPr lang="en-US" sz="12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担当者ごとにバラバラ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154680" y="1051560"/>
            <a:ext cx="2743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1051560"/>
            <a:ext cx="2743200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06240" y="1005840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206240" y="1005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291840" y="17373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どこで</a:t>
            </a:r>
            <a:endParaRPr lang="en-US" sz="15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遅延が起きているか不明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291840" y="260604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月次報告では見えない</a:t>
            </a:r>
            <a:endParaRPr lang="en-US" sz="12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「工程間の待ち時間」や</a:t>
            </a:r>
            <a:endParaRPr lang="en-US" sz="12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「特定担当者への集中」が潜在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80760" y="1051560"/>
            <a:ext cx="2743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80760" y="1051560"/>
            <a:ext cx="2743200" cy="16459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32320" y="1005840"/>
            <a:ext cx="640080" cy="64008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132320" y="1005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217920" y="17373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手戻り・例外処理が</a:t>
            </a:r>
            <a:endParaRPr lang="en-US" sz="15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見えていない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217920" y="260604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差戻し・再申請・督促など</a:t>
            </a:r>
            <a:endParaRPr lang="en-US" sz="12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非効率な繰り返しが</a:t>
            </a:r>
            <a:endParaRPr lang="en-US" sz="12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コスト増大の原因に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これらの課題を、システムに蓄積されたイベントログだけで解決できます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プロセスマイニングとは？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1051560"/>
            <a:ext cx="39319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51560"/>
            <a:ext cx="91440" cy="38404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4300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イベントログを読み込むだけで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業務フローを自動再現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2057400"/>
            <a:ext cx="35204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必要なのは3列のデータのみ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</a:t>
            </a:r>
            <a:pPr indent="0" marL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ケースID</a:t>
            </a:r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案件・取引の識別子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（例：発注番号）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</a:t>
            </a:r>
            <a:pPr indent="0" marL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アクティビティ</a:t>
            </a:r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処理ステップ名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（例：購買依頼_作成）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</a:t>
            </a:r>
            <a:pPr indent="0" marL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タイムスタンプ</a:t>
            </a:r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処理日時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（例：2024-04-01 09:26）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0" y="1051560"/>
            <a:ext cx="42976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0" y="11430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イベントログ → プロセス可視化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600200"/>
          <a:ext cx="3931920" cy="1143000"/>
        </p:xfrm>
        <a:graphic>
          <a:graphicData uri="http://schemas.openxmlformats.org/drawingml/2006/table">
            <a:tbl>
              <a:tblPr/>
              <a:tblGrid>
                <a:gridCol w="914400"/>
                <a:gridCol w="1737360"/>
                <a:gridCol w="1280160"/>
              </a:tblGrid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案件ID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アクティビティ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日時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PO-001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購買依頼_作成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04/01 09:26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PO-001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承認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04/02 10:15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PO-001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見積依頼_送付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04/03 14:32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PO-002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購買依頼_作成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04/01 12:18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5943600" y="2880360"/>
            <a:ext cx="0" cy="457200"/>
          </a:xfrm>
          <a:prstGeom prst="line">
            <a:avLst/>
          </a:prstGeom>
          <a:noFill/>
          <a:ln w="31750">
            <a:solidFill>
              <a:srgbClr val="38BDF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54880" y="29260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自動分析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736592" y="3291840"/>
            <a:ext cx="59436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36592" y="3291840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購買依頼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5321808" y="3328416"/>
            <a:ext cx="9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8BDF8"/>
                </a:solidFill>
              </a:rPr>
              <a:t>▶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5394960" y="3291840"/>
            <a:ext cx="594360" cy="347472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394960" y="3291840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承認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5980176" y="3328416"/>
            <a:ext cx="9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8BDF8"/>
                </a:solidFill>
              </a:rPr>
              <a:t>▶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6053328" y="3291840"/>
            <a:ext cx="594360" cy="347472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053328" y="3291840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見積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6638544" y="3328416"/>
            <a:ext cx="9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8BDF8"/>
                </a:solidFill>
              </a:rPr>
              <a:t>▶</a:t>
            </a:r>
            <a:endParaRPr lang="en-US" sz="700" dirty="0"/>
          </a:p>
        </p:txBody>
      </p:sp>
      <p:sp>
        <p:nvSpPr>
          <p:cNvPr id="24" name="Shape 21"/>
          <p:cNvSpPr/>
          <p:nvPr/>
        </p:nvSpPr>
        <p:spPr>
          <a:xfrm>
            <a:off x="6711696" y="3291840"/>
            <a:ext cx="594360" cy="347472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711696" y="3291840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発注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7296912" y="3328416"/>
            <a:ext cx="9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8BDF8"/>
                </a:solidFill>
              </a:rPr>
              <a:t>▶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7370064" y="3291840"/>
            <a:ext cx="594360" cy="347472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370064" y="3291840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納品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7955280" y="3328416"/>
            <a:ext cx="9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8BDF8"/>
                </a:solidFill>
              </a:rPr>
              <a:t>▶</a:t>
            </a:r>
            <a:endParaRPr lang="en-US" sz="700" dirty="0"/>
          </a:p>
        </p:txBody>
      </p:sp>
      <p:sp>
        <p:nvSpPr>
          <p:cNvPr id="30" name="Shape 27"/>
          <p:cNvSpPr/>
          <p:nvPr/>
        </p:nvSpPr>
        <p:spPr>
          <a:xfrm>
            <a:off x="8028432" y="3291840"/>
            <a:ext cx="59436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028432" y="3291840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支払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4754880" y="370332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標準フロー（196件 / 32.3%）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4736592" y="4023360"/>
            <a:ext cx="594360" cy="34747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736592" y="4023360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購買依頼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5321808" y="4059936"/>
            <a:ext cx="9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F4444"/>
                </a:solidFill>
              </a:rPr>
              <a:t>▶</a:t>
            </a:r>
            <a:endParaRPr lang="en-US" sz="700" dirty="0"/>
          </a:p>
        </p:txBody>
      </p:sp>
      <p:sp>
        <p:nvSpPr>
          <p:cNvPr id="36" name="Shape 33"/>
          <p:cNvSpPr/>
          <p:nvPr/>
        </p:nvSpPr>
        <p:spPr>
          <a:xfrm>
            <a:off x="5394960" y="4023360"/>
            <a:ext cx="59436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394960" y="4023360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差戻し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5980176" y="4059936"/>
            <a:ext cx="9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F4444"/>
                </a:solidFill>
              </a:rPr>
              <a:t>▶</a:t>
            </a:r>
            <a:endParaRPr lang="en-US" sz="700" dirty="0"/>
          </a:p>
        </p:txBody>
      </p:sp>
      <p:sp>
        <p:nvSpPr>
          <p:cNvPr id="39" name="Shape 36"/>
          <p:cNvSpPr/>
          <p:nvPr/>
        </p:nvSpPr>
        <p:spPr>
          <a:xfrm>
            <a:off x="6053328" y="4023360"/>
            <a:ext cx="59436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053328" y="4023360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再申請</a:t>
            </a:r>
            <a:endParaRPr lang="en-US" sz="750" dirty="0"/>
          </a:p>
        </p:txBody>
      </p:sp>
      <p:sp>
        <p:nvSpPr>
          <p:cNvPr id="41" name="Text 38"/>
          <p:cNvSpPr/>
          <p:nvPr/>
        </p:nvSpPr>
        <p:spPr>
          <a:xfrm>
            <a:off x="6638544" y="4059936"/>
            <a:ext cx="9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F4444"/>
                </a:solidFill>
              </a:rPr>
              <a:t>▶</a:t>
            </a:r>
            <a:endParaRPr lang="en-US" sz="700" dirty="0"/>
          </a:p>
        </p:txBody>
      </p:sp>
      <p:sp>
        <p:nvSpPr>
          <p:cNvPr id="42" name="Shape 39"/>
          <p:cNvSpPr/>
          <p:nvPr/>
        </p:nvSpPr>
        <p:spPr>
          <a:xfrm>
            <a:off x="6711696" y="4023360"/>
            <a:ext cx="594360" cy="34747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711696" y="4023360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承認</a:t>
            </a:r>
            <a:endParaRPr lang="en-US" sz="750" dirty="0"/>
          </a:p>
        </p:txBody>
      </p:sp>
      <p:sp>
        <p:nvSpPr>
          <p:cNvPr id="44" name="Text 41"/>
          <p:cNvSpPr/>
          <p:nvPr/>
        </p:nvSpPr>
        <p:spPr>
          <a:xfrm>
            <a:off x="7296912" y="4059936"/>
            <a:ext cx="9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F4444"/>
                </a:solidFill>
              </a:rPr>
              <a:t>▶</a:t>
            </a:r>
            <a:endParaRPr lang="en-US" sz="700" dirty="0"/>
          </a:p>
        </p:txBody>
      </p:sp>
      <p:sp>
        <p:nvSpPr>
          <p:cNvPr id="45" name="Shape 42"/>
          <p:cNvSpPr/>
          <p:nvPr/>
        </p:nvSpPr>
        <p:spPr>
          <a:xfrm>
            <a:off x="7370064" y="4023360"/>
            <a:ext cx="594360" cy="34747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7370064" y="4023360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見積</a:t>
            </a:r>
            <a:endParaRPr lang="en-US" sz="750" dirty="0"/>
          </a:p>
        </p:txBody>
      </p:sp>
      <p:sp>
        <p:nvSpPr>
          <p:cNvPr id="47" name="Text 44"/>
          <p:cNvSpPr/>
          <p:nvPr/>
        </p:nvSpPr>
        <p:spPr>
          <a:xfrm>
            <a:off x="7955280" y="4059936"/>
            <a:ext cx="9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F4444"/>
                </a:solidFill>
              </a:rPr>
              <a:t>▶</a:t>
            </a:r>
            <a:endParaRPr lang="en-US" sz="700" dirty="0"/>
          </a:p>
        </p:txBody>
      </p:sp>
      <p:sp>
        <p:nvSpPr>
          <p:cNvPr id="48" name="Shape 45"/>
          <p:cNvSpPr/>
          <p:nvPr/>
        </p:nvSpPr>
        <p:spPr>
          <a:xfrm>
            <a:off x="8028432" y="4023360"/>
            <a:ext cx="594360" cy="34747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8028432" y="4023360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発注</a:t>
            </a:r>
            <a:endParaRPr lang="en-US" sz="750" dirty="0"/>
          </a:p>
        </p:txBody>
      </p:sp>
      <p:sp>
        <p:nvSpPr>
          <p:cNvPr id="50" name="Text 47"/>
          <p:cNvSpPr/>
          <p:nvPr/>
        </p:nvSpPr>
        <p:spPr>
          <a:xfrm>
            <a:off x="4754880" y="443484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例外フロー（差戻し 63件 / 10.4%）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3つの分析機能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1051560"/>
            <a:ext cx="27889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51560"/>
            <a:ext cx="278892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97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914400" y="1115568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頻度分析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1508760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Analysis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38328" y="19202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各アクティビティの発生件数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8328" y="235915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平均処理時間の算出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8328" y="2798064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部門別・担当者別の内訳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8328" y="3236976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ボリューム集中箇所の特定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38328" y="4434840"/>
            <a:ext cx="2560320" cy="320040"/>
          </a:xfrm>
          <a:prstGeom prst="rect">
            <a:avLst/>
          </a:prstGeom>
          <a:solidFill>
            <a:srgbClr val="1E2761">
              <a:alpha val="15000"/>
            </a:srgbClr>
          </a:solidFill>
          <a:ln w="12700">
            <a:solidFill>
              <a:srgbClr val="1E2761">
                <a:alpha val="3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" y="44348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32種類のアクティビティを分析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154680" y="1051560"/>
            <a:ext cx="27889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54680" y="1051560"/>
            <a:ext cx="2788920" cy="777240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46120" y="1097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3840480" y="1115568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前後処理分析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840480" y="1508760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Analysis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64408" y="19202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処理間の平均待ち時間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64408" y="235915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ボトルネック工程の特定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64408" y="2798064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繰り返し（手戻り）の検出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64408" y="3236976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遷移フロー図の自動生成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64408" y="4434840"/>
            <a:ext cx="2560320" cy="320040"/>
          </a:xfrm>
          <a:prstGeom prst="rect">
            <a:avLst/>
          </a:prstGeom>
          <a:solidFill>
            <a:srgbClr val="3B82C4">
              <a:alpha val="15000"/>
            </a:srgbClr>
          </a:solidFill>
          <a:ln w="12700">
            <a:solidFill>
              <a:srgbClr val="3B82C4">
                <a:alpha val="3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64408" y="44348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督促発生 100件（16.5%）を検出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080760" y="1051560"/>
            <a:ext cx="27889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80760" y="1051560"/>
            <a:ext cx="2788920" cy="777240"/>
          </a:xfrm>
          <a:prstGeom prst="rect">
            <a:avLst/>
          </a:prstGeom>
          <a:solidFill>
            <a:srgbClr val="243080"/>
          </a:solidFill>
          <a:ln w="12700">
            <a:solidFill>
              <a:srgbClr val="2430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72200" y="1097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6766560" y="1115568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パターン分析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766560" y="1508760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Pattern Analysis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190488" y="19202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実際の処理ルートを全列挙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190488" y="235915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標準フロー vs 例外フロー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190488" y="2798064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差戻し・再申請ルートの把握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190488" y="3236976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コスト集中パターンの可視化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190488" y="4434840"/>
            <a:ext cx="2560320" cy="320040"/>
          </a:xfrm>
          <a:prstGeom prst="rect">
            <a:avLst/>
          </a:prstGeom>
          <a:solidFill>
            <a:srgbClr val="243080">
              <a:alpha val="15000"/>
            </a:srgbClr>
          </a:solidFill>
          <a:ln w="12700">
            <a:solidFill>
              <a:srgbClr val="243080">
                <a:alpha val="3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90488" y="44348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3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標準フロー 32.3% が基準ルート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頻度分析　— アクティビティごとの発生件数・処理時間</a:t>
            </a:r>
            <a:endParaRPr lang="en-US" sz="2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28600" y="1005840"/>
          <a:ext cx="50292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440680" y="1005840"/>
            <a:ext cx="34747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40680" y="1005840"/>
            <a:ext cx="3474720" cy="16459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532120" y="12344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分析のポイント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532120" y="1691640"/>
            <a:ext cx="3291840" cy="658368"/>
          </a:xfrm>
          <a:prstGeom prst="rect">
            <a:avLst/>
          </a:prstGeom>
          <a:solidFill>
            <a:srgbClr val="E8F0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532120" y="1691640"/>
            <a:ext cx="64008" cy="65836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50992" y="1728216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最多発生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650992" y="1938528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見積書_受領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650992" y="2121408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747件 — 全案件で複数回発生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532120" y="2441448"/>
            <a:ext cx="32918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532120" y="2441448"/>
            <a:ext cx="64008" cy="65836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50992" y="2478024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全件必須工程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650992" y="2688336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606件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650992" y="2871216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購買依頼・承認・発注・支払など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532120" y="3191256"/>
            <a:ext cx="3291840" cy="658368"/>
          </a:xfrm>
          <a:prstGeom prst="rect">
            <a:avLst/>
          </a:prstGeom>
          <a:solidFill>
            <a:srgbClr val="E8F0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532120" y="3191256"/>
            <a:ext cx="64008" cy="65836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650992" y="3227832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差戻し発生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650992" y="3438144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63件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650992" y="3621024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全体の10.4%で差戻しが発生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5532120" y="3941064"/>
            <a:ext cx="32918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532120" y="3941064"/>
            <a:ext cx="64008" cy="65836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50992" y="397764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督促送付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5650992" y="4187952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100件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650992" y="4370832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全体の16.5%で督促が必要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前後処理分析　— 処理間の待ち時間・ボトルネック特定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1051560"/>
            <a:ext cx="41148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1430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購買フロー　平均所要時間イメージ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2103120" cy="31089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55448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購買依頼_作成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1938528"/>
            <a:ext cx="2103120" cy="310896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93852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承認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560320" y="1975104"/>
            <a:ext cx="473202" cy="2377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15234" y="1975104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2.3日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02920" y="1938528"/>
            <a:ext cx="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322576"/>
            <a:ext cx="2103120" cy="310896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322576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見積依頼_送付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560320" y="2359152"/>
            <a:ext cx="226314" cy="2377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68346" y="2359152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1.1日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02920" y="2322576"/>
            <a:ext cx="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706624"/>
            <a:ext cx="2103120" cy="31089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706624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見積書_受領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560320" y="2743200"/>
            <a:ext cx="1069848" cy="23774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11880" y="2743200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5.2日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02920" y="2706624"/>
            <a:ext cx="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3090672"/>
            <a:ext cx="2103120" cy="310896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09067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サプライヤー_選定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560320" y="3127248"/>
            <a:ext cx="370332" cy="2377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12364" y="3127248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1.8日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02920" y="3090672"/>
            <a:ext cx="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3474720"/>
            <a:ext cx="2103120" cy="31089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47472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発注書_承認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560320" y="3511296"/>
            <a:ext cx="185166" cy="2377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27198" y="3511296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0.9日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02920" y="3474720"/>
            <a:ext cx="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5760" y="3858768"/>
            <a:ext cx="2103120" cy="31089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385876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納品_受領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560320" y="3895344"/>
            <a:ext cx="1522476" cy="23774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064508" y="3895344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7.4日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02920" y="3858768"/>
            <a:ext cx="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65760" y="4242816"/>
            <a:ext cx="2103120" cy="3108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242816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請求書_照合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560320" y="4279392"/>
            <a:ext cx="637794" cy="2377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179826" y="4279392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3.1日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02920" y="4242816"/>
            <a:ext cx="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560320" y="1508760"/>
            <a:ext cx="1737360" cy="201168"/>
          </a:xfrm>
          <a:prstGeom prst="rect">
            <a:avLst/>
          </a:prstGeom>
          <a:solidFill>
            <a:srgbClr val="E8F0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560320" y="150876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平均待ち時間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526280" y="1051560"/>
            <a:ext cx="43891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526280" y="1051560"/>
            <a:ext cx="4389120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17720" y="12801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ボトルネック分析 結果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4617720" y="1783080"/>
            <a:ext cx="4206240" cy="685800"/>
          </a:xfrm>
          <a:prstGeom prst="rect">
            <a:avLst/>
          </a:prstGeom>
          <a:solidFill>
            <a:srgbClr val="E8F0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617720" y="1783080"/>
            <a:ext cx="54864" cy="6858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36592" y="18745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7.4日</a:t>
            </a:r>
            <a:endParaRPr lang="en-US" sz="2400" dirty="0"/>
          </a:p>
        </p:txBody>
      </p:sp>
      <p:sp>
        <p:nvSpPr>
          <p:cNvPr id="52" name="Text 50"/>
          <p:cNvSpPr/>
          <p:nvPr/>
        </p:nvSpPr>
        <p:spPr>
          <a:xfrm>
            <a:off x="6126480" y="19659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納品待ち（最大ボトルネック）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4617720" y="2560320"/>
            <a:ext cx="4206240" cy="685800"/>
          </a:xfrm>
          <a:prstGeom prst="rect">
            <a:avLst/>
          </a:prstGeom>
          <a:solidFill>
            <a:srgbClr val="E8F0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617720" y="2560320"/>
            <a:ext cx="54864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36592" y="26517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5.2日</a:t>
            </a:r>
            <a:endParaRPr lang="en-US" sz="2400" dirty="0"/>
          </a:p>
        </p:txBody>
      </p:sp>
      <p:sp>
        <p:nvSpPr>
          <p:cNvPr id="56" name="Text 54"/>
          <p:cNvSpPr/>
          <p:nvPr/>
        </p:nvSpPr>
        <p:spPr>
          <a:xfrm>
            <a:off x="6126480" y="27432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見積書受領（第2ボトルネック）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4617720" y="3337560"/>
            <a:ext cx="4206240" cy="685800"/>
          </a:xfrm>
          <a:prstGeom prst="rect">
            <a:avLst/>
          </a:prstGeom>
          <a:solidFill>
            <a:srgbClr val="E8F0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617720" y="3337560"/>
            <a:ext cx="54864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36592" y="34290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16.5%</a:t>
            </a:r>
            <a:endParaRPr lang="en-US" sz="2400" dirty="0"/>
          </a:p>
        </p:txBody>
      </p:sp>
      <p:sp>
        <p:nvSpPr>
          <p:cNvPr id="60" name="Text 58"/>
          <p:cNvSpPr/>
          <p:nvPr/>
        </p:nvSpPr>
        <p:spPr>
          <a:xfrm>
            <a:off x="6126480" y="3520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督促が必要になった案件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4617720" y="4114800"/>
            <a:ext cx="4206240" cy="685800"/>
          </a:xfrm>
          <a:prstGeom prst="rect">
            <a:avLst/>
          </a:prstGeom>
          <a:solidFill>
            <a:srgbClr val="E8F0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617720" y="4114800"/>
            <a:ext cx="54864" cy="6858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736592" y="42062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10.4%</a:t>
            </a:r>
            <a:endParaRPr lang="en-US" sz="2400" dirty="0"/>
          </a:p>
        </p:txBody>
      </p:sp>
      <p:sp>
        <p:nvSpPr>
          <p:cNvPr id="64" name="Text 62"/>
          <p:cNvSpPr/>
          <p:nvPr/>
        </p:nvSpPr>
        <p:spPr>
          <a:xfrm>
            <a:off x="6126480" y="42976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差戻しによる手戻り発生率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処理順パターン分析　— 実際の業務ルートを全件可視化</a:t>
            </a:r>
            <a:endParaRPr lang="en-US" sz="2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28600" y="1051560"/>
          <a:ext cx="36576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4023360" y="1051560"/>
            <a:ext cx="48920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023360" y="1051560"/>
            <a:ext cx="4892040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60520" y="1280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主要処理パターン　TOP5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114800" y="1737360"/>
            <a:ext cx="4663440" cy="548640"/>
          </a:xfrm>
          <a:prstGeom prst="rect">
            <a:avLst/>
          </a:prstGeom>
          <a:solidFill>
            <a:srgbClr val="E8F0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160520" y="1828800"/>
            <a:ext cx="365760" cy="3657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60520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617720" y="18288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標準フロー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858000" y="18288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196件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543800" y="1828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32.3%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138160" y="1865376"/>
            <a:ext cx="548640" cy="292608"/>
          </a:xfrm>
          <a:prstGeom prst="rect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138160" y="186537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正常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114800" y="2359152"/>
            <a:ext cx="46634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160520" y="2450592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160520" y="2450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617720" y="245059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エスカレーション含む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6858000" y="245059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47件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7543800" y="245059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7.8%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8138160" y="2487168"/>
            <a:ext cx="548640" cy="292608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138160" y="248716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要確認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4114800" y="2980944"/>
            <a:ext cx="4663440" cy="548640"/>
          </a:xfrm>
          <a:prstGeom prst="rect">
            <a:avLst/>
          </a:prstGeom>
          <a:solidFill>
            <a:srgbClr val="E8F0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160520" y="3072384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160520" y="3072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4617720" y="3072384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督促（REMIND）あり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6858000" y="3072384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41件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7543800" y="3072384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6.8%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8138160" y="3108960"/>
            <a:ext cx="548640" cy="292608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138160" y="310896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要確認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114800" y="3602736"/>
            <a:ext cx="46634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160520" y="3694176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160520" y="36941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4617720" y="3694176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見積再交渉（NEG）あり</a:t>
            </a:r>
            <a:endParaRPr lang="en-US" sz="1150" dirty="0"/>
          </a:p>
        </p:txBody>
      </p:sp>
      <p:sp>
        <p:nvSpPr>
          <p:cNvPr id="37" name="Text 34"/>
          <p:cNvSpPr/>
          <p:nvPr/>
        </p:nvSpPr>
        <p:spPr>
          <a:xfrm>
            <a:off x="6858000" y="3694176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29件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7543800" y="3694176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4.8%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8138160" y="3730752"/>
            <a:ext cx="548640" cy="292608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138160" y="37307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要確認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4114800" y="4224528"/>
            <a:ext cx="4663440" cy="548640"/>
          </a:xfrm>
          <a:prstGeom prst="rect">
            <a:avLst/>
          </a:prstGeom>
          <a:solidFill>
            <a:srgbClr val="E8F0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160520" y="4315968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160520" y="4315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4617720" y="431596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差戻し・再申請あり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6858000" y="431596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24件</a:t>
            </a:r>
            <a:endParaRPr lang="en-US" sz="1300" dirty="0"/>
          </a:p>
        </p:txBody>
      </p:sp>
      <p:sp>
        <p:nvSpPr>
          <p:cNvPr id="46" name="Text 43"/>
          <p:cNvSpPr/>
          <p:nvPr/>
        </p:nvSpPr>
        <p:spPr>
          <a:xfrm>
            <a:off x="7543800" y="431596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4.0%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8138160" y="4352544"/>
            <a:ext cx="548640" cy="292608"/>
          </a:xfrm>
          <a:prstGeom prst="rect">
            <a:avLst/>
          </a:prstGeom>
          <a:solidFill>
            <a:srgbClr val="EF4444">
              <a:alpha val="1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8138160" y="435254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問題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Webアプリ &amp; Excelレポート　— すぐに使えるUI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822960" cy="8229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097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28600" y="20116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CSVアップロード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28600" y="242316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既存システムの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ログをそのまま使用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01368" y="13716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▶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377440" y="1097280"/>
            <a:ext cx="822960" cy="822960"/>
          </a:xfrm>
          <a:prstGeom prst="ellipse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377440" y="1097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965960" y="20116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列マッピング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965960" y="242316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ケースID・アクティビティ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タイムスタンプを選択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38728" y="13716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▶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114800" y="1097280"/>
            <a:ext cx="822960" cy="82296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114800" y="1097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703320" y="20116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フィルタリング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703320" y="242316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期間・部門・金額別に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絞り込み設定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276088" y="13716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▶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852160" y="1097280"/>
            <a:ext cx="822960" cy="8229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852160" y="1097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440680" y="20116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分析実行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40680" y="242316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3種の分析を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ワンクリックで実行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013448" y="13716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▶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589520" y="1097280"/>
            <a:ext cx="822960" cy="8229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589520" y="1097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178040" y="20116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Excel/Web出力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178040" y="242316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詳細レポートを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即座にダウンロード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8600" y="320040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28600" y="3200400"/>
            <a:ext cx="2743200" cy="137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8328" y="3364992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フィルタリング機能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38328" y="3721608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期間指定（開始日〜終了日）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38328" y="3995928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部門・担当者フィルター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38328" y="4270248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金額カテゴリー別分析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38328" y="4544568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複数条件の組み合わせ対応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154680" y="320040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154680" y="3200400"/>
            <a:ext cx="2743200" cy="1371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64408" y="3364992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インサイト（Ollama連携）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264408" y="3721608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ボトルネック原因のAI自動解説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3264408" y="3995928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改善提案のテキスト生成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3264408" y="4270248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異常パターンの自動検出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3264408" y="4544568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Excelレポートに自動挿入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080760" y="320040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080760" y="3200400"/>
            <a:ext cx="2743200" cy="137160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90488" y="3364992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レポート出力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190488" y="3721608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分析結果の全データ収録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190488" y="3995928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グラフ・サマリー自動生成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6190488" y="4270248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フィルター条件・前提を記録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6190488" y="4544568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そのまま経営会議に提出可能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9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8BDF8">
              <a:alpha val="80000"/>
            </a:srgbClr>
          </a:solidFill>
          <a:ln w="12700">
            <a:solidFill>
              <a:srgbClr val="38BDF8">
                <a:alpha val="8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活用シーン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1051560"/>
            <a:ext cx="2011680" cy="3840480"/>
          </a:xfrm>
          <a:prstGeom prst="rect">
            <a:avLst/>
          </a:prstGeom>
          <a:solidFill>
            <a:srgbClr val="1E2761">
              <a:alpha val="80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051560"/>
            <a:ext cx="2011680" cy="1371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261872"/>
            <a:ext cx="822960" cy="822960"/>
          </a:xfrm>
          <a:prstGeom prst="ellipse">
            <a:avLst/>
          </a:prstGeom>
          <a:solidFill>
            <a:srgbClr val="38BDF8">
              <a:alpha val="8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26187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改善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201168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ボトルネックの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特定と改善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" y="27432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納品待ち7.4日など</a:t>
            </a:r>
            <a:endParaRPr lang="en-US" sz="1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処理間の滞留を特定し</a:t>
            </a:r>
            <a:endParaRPr lang="en-US" sz="1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優先的に改善施策を立案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4297680"/>
            <a:ext cx="1828800" cy="347472"/>
          </a:xfrm>
          <a:prstGeom prst="rect">
            <a:avLst/>
          </a:prstGeom>
          <a:solidFill>
            <a:srgbClr val="38BDF8">
              <a:alpha val="20000"/>
            </a:srgbClr>
          </a:solidFill>
          <a:ln w="12700">
            <a:solidFill>
              <a:srgbClr val="38BDF8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42976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購買部門・管理部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441448" y="1051560"/>
            <a:ext cx="2011680" cy="3840480"/>
          </a:xfrm>
          <a:prstGeom prst="rect">
            <a:avLst/>
          </a:prstGeom>
          <a:solidFill>
            <a:srgbClr val="1E2761">
              <a:alpha val="80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41448" y="1051560"/>
            <a:ext cx="2011680" cy="1371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35808" y="1261872"/>
            <a:ext cx="822960" cy="822960"/>
          </a:xfrm>
          <a:prstGeom prst="ellipse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35808" y="126187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撲滅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32888" y="201168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手戻り・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例外処理の撲滅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532888" y="27432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差戻し10.4%・督促16.5%など</a:t>
            </a:r>
            <a:endParaRPr lang="en-US" sz="1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繰り返し発生する例外を</a:t>
            </a:r>
            <a:endParaRPr lang="en-US" sz="1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データで可視化・根絶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532888" y="4297680"/>
            <a:ext cx="1828800" cy="347472"/>
          </a:xfrm>
          <a:prstGeom prst="rect">
            <a:avLst/>
          </a:prstGeom>
          <a:solidFill>
            <a:srgbClr val="38BDF8">
              <a:alpha val="20000"/>
            </a:srgbClr>
          </a:solidFill>
          <a:ln w="12700">
            <a:solidFill>
              <a:srgbClr val="38BDF8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32888" y="42976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業務改善チーム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54296" y="1051560"/>
            <a:ext cx="2011680" cy="3840480"/>
          </a:xfrm>
          <a:prstGeom prst="rect">
            <a:avLst/>
          </a:prstGeom>
          <a:solidFill>
            <a:srgbClr val="1E2761">
              <a:alpha val="80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54296" y="1051560"/>
            <a:ext cx="2011680" cy="1371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48656" y="1261872"/>
            <a:ext cx="822960" cy="822960"/>
          </a:xfrm>
          <a:prstGeom prst="ellipse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48656" y="126187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報告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45736" y="201168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月次業務報告の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自動化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745736" y="27432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分析結果をExcelで</a:t>
            </a:r>
            <a:endParaRPr lang="en-US" sz="1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自動出力。毎月の</a:t>
            </a:r>
            <a:endParaRPr lang="en-US" sz="1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手作業レポートを削減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45736" y="4297680"/>
            <a:ext cx="1828800" cy="347472"/>
          </a:xfrm>
          <a:prstGeom prst="rect">
            <a:avLst/>
          </a:prstGeom>
          <a:solidFill>
            <a:srgbClr val="38BDF8">
              <a:alpha val="20000"/>
            </a:srgbClr>
          </a:solidFill>
          <a:ln w="12700">
            <a:solidFill>
              <a:srgbClr val="38BDF8">
                <a:alpha val="5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45736" y="42976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経営企画・管理部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867144" y="1051560"/>
            <a:ext cx="2011680" cy="3840480"/>
          </a:xfrm>
          <a:prstGeom prst="rect">
            <a:avLst/>
          </a:prstGeom>
          <a:solidFill>
            <a:srgbClr val="1E2761">
              <a:alpha val="80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67144" y="1051560"/>
            <a:ext cx="2011680" cy="137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61504" y="1261872"/>
            <a:ext cx="822960" cy="822960"/>
          </a:xfrm>
          <a:prstGeom prst="ellipse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61504" y="126187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監査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958584" y="201168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コンプライアンス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監査対応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958584" y="27432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規程通りの承認ルートを</a:t>
            </a:r>
            <a:endParaRPr lang="en-US" sz="1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通過しているか全件を</a:t>
            </a:r>
            <a:endParaRPr lang="en-US" sz="1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トレーサブルに証跡確認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958584" y="4297680"/>
            <a:ext cx="1828800" cy="347472"/>
          </a:xfrm>
          <a:prstGeom prst="rect">
            <a:avLst/>
          </a:prstGeom>
          <a:solidFill>
            <a:srgbClr val="38BDF8">
              <a:alpha val="20000"/>
            </a:srgbClr>
          </a:solidFill>
          <a:ln w="12700">
            <a:solidFill>
              <a:srgbClr val="38BDF8">
                <a:alpha val="5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58584" y="42976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内部監査・法務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9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243080"/>
          </a:solidFill>
          <a:ln w="12700">
            <a:solidFill>
              <a:srgbClr val="2430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731520"/>
            <a:ext cx="2286000" cy="2286000"/>
          </a:xfrm>
          <a:prstGeom prst="ellipse">
            <a:avLst/>
          </a:prstGeom>
          <a:solidFill>
            <a:srgbClr val="38BDF8">
              <a:alpha val="15000"/>
            </a:srgbClr>
          </a:solidFill>
          <a:ln w="12700">
            <a:solidFill>
              <a:srgbClr val="38BDF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3474720"/>
            <a:ext cx="1645920" cy="1645920"/>
          </a:xfrm>
          <a:prstGeom prst="ellipse">
            <a:avLst/>
          </a:prstGeom>
          <a:solidFill>
            <a:srgbClr val="3B82C4">
              <a:alpha val="20000"/>
            </a:srgbClr>
          </a:solidFill>
          <a:ln w="12700">
            <a:solidFill>
              <a:srgbClr val="3B82C4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57200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まとめ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5760720" cy="566928"/>
          </a:xfrm>
          <a:prstGeom prst="rect">
            <a:avLst/>
          </a:prstGeom>
          <a:solidFill>
            <a:srgbClr val="1E2761">
              <a:alpha val="60000"/>
            </a:srgbClr>
          </a:solidFill>
          <a:ln w="12700">
            <a:solidFill>
              <a:srgbClr val="38BDF8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18872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8BDF8"/>
                </a:solidFill>
              </a:rPr>
              <a:t>✓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1188720"/>
            <a:ext cx="5212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イベントログ3列から業務フローを自動可視化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1856232"/>
            <a:ext cx="5760720" cy="566928"/>
          </a:xfrm>
          <a:prstGeom prst="rect">
            <a:avLst/>
          </a:prstGeom>
          <a:solidFill>
            <a:srgbClr val="1E2761">
              <a:alpha val="60000"/>
            </a:srgbClr>
          </a:solidFill>
          <a:ln w="12700">
            <a:solidFill>
              <a:srgbClr val="38BDF8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856232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8BDF8"/>
                </a:solidFill>
              </a:rPr>
              <a:t>✓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1856232"/>
            <a:ext cx="5212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頻度・前後処理・パターンの3分析で多角的に把握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74320" y="2523744"/>
            <a:ext cx="5760720" cy="566928"/>
          </a:xfrm>
          <a:prstGeom prst="rect">
            <a:avLst/>
          </a:prstGeom>
          <a:solidFill>
            <a:srgbClr val="1E2761">
              <a:alpha val="60000"/>
            </a:srgbClr>
          </a:solidFill>
          <a:ln w="12700">
            <a:solidFill>
              <a:srgbClr val="38BDF8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523744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8BDF8"/>
                </a:solidFill>
              </a:rPr>
              <a:t>✓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7240" y="2523744"/>
            <a:ext cx="5212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購買フロー606件を分析し、ボトルネックと手戻りを特定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74320" y="3191256"/>
            <a:ext cx="5760720" cy="566928"/>
          </a:xfrm>
          <a:prstGeom prst="rect">
            <a:avLst/>
          </a:prstGeom>
          <a:solidFill>
            <a:srgbClr val="1E2761">
              <a:alpha val="60000"/>
            </a:srgbClr>
          </a:solidFill>
          <a:ln w="12700">
            <a:solidFill>
              <a:srgbClr val="38BDF8">
                <a:alpha val="3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191256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8BDF8"/>
                </a:solidFill>
              </a:rPr>
              <a:t>✓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77240" y="3191256"/>
            <a:ext cx="5212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WebアプリとExcelレポートで誰でもすぐ使える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74320" y="3858768"/>
            <a:ext cx="5760720" cy="566928"/>
          </a:xfrm>
          <a:prstGeom prst="rect">
            <a:avLst/>
          </a:prstGeom>
          <a:solidFill>
            <a:srgbClr val="1E2761">
              <a:alpha val="60000"/>
            </a:srgbClr>
          </a:solidFill>
          <a:ln w="12700">
            <a:solidFill>
              <a:srgbClr val="38BDF8">
                <a:alpha val="3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858768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8BDF8"/>
                </a:solidFill>
              </a:rPr>
              <a:t>✓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77240" y="3858768"/>
            <a:ext cx="5212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AI（Ollama）連携で改善提案を自動テキスト化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74320" y="4572000"/>
            <a:ext cx="5760720" cy="38404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572000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業務改善の第一歩はデータの可視化から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プロセスマイニングツール</dc:title>
  <dc:subject>PptxGenJS Presentation</dc:subject>
  <dc:creator>PptxGenJS</dc:creator>
  <cp:lastModifiedBy>PptxGenJS</cp:lastModifiedBy>
  <cp:revision>1</cp:revision>
  <dcterms:created xsi:type="dcterms:W3CDTF">2026-04-10T07:01:46Z</dcterms:created>
  <dcterms:modified xsi:type="dcterms:W3CDTF">2026-04-10T07:01:46Z</dcterms:modified>
</cp:coreProperties>
</file>